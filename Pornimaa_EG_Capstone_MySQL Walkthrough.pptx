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rnimaa EG" userId="378069c3d4fc1021" providerId="LiveId" clId="{D413DC48-2A5A-4431-9791-71EA53EB4608}"/>
    <pc:docChg chg="modSld">
      <pc:chgData name="Pornimaa EG" userId="378069c3d4fc1021" providerId="LiveId" clId="{D413DC48-2A5A-4431-9791-71EA53EB4608}" dt="2026-03-03T14:13:41.001" v="55" actId="14100"/>
      <pc:docMkLst>
        <pc:docMk/>
      </pc:docMkLst>
      <pc:sldChg chg="modSp mod">
        <pc:chgData name="Pornimaa EG" userId="378069c3d4fc1021" providerId="LiveId" clId="{D413DC48-2A5A-4431-9791-71EA53EB4608}" dt="2026-03-02T14:36:02.041" v="28" actId="14100"/>
        <pc:sldMkLst>
          <pc:docMk/>
          <pc:sldMk cId="0" sldId="259"/>
        </pc:sldMkLst>
        <pc:spChg chg="mod">
          <ac:chgData name="Pornimaa EG" userId="378069c3d4fc1021" providerId="LiveId" clId="{D413DC48-2A5A-4431-9791-71EA53EB4608}" dt="2026-03-02T14:36:02.041" v="28" actId="14100"/>
          <ac:spMkLst>
            <pc:docMk/>
            <pc:sldMk cId="0" sldId="259"/>
            <ac:spMk id="83" creationId="{00000000-0000-0000-0000-000000000000}"/>
          </ac:spMkLst>
        </pc:spChg>
        <pc:spChg chg="mod">
          <ac:chgData name="Pornimaa EG" userId="378069c3d4fc1021" providerId="LiveId" clId="{D413DC48-2A5A-4431-9791-71EA53EB4608}" dt="2026-03-02T14:35:50.784" v="25" actId="1076"/>
          <ac:spMkLst>
            <pc:docMk/>
            <pc:sldMk cId="0" sldId="259"/>
            <ac:spMk id="84" creationId="{00000000-0000-0000-0000-000000000000}"/>
          </ac:spMkLst>
        </pc:spChg>
      </pc:sldChg>
      <pc:sldChg chg="modSp mod">
        <pc:chgData name="Pornimaa EG" userId="378069c3d4fc1021" providerId="LiveId" clId="{D413DC48-2A5A-4431-9791-71EA53EB4608}" dt="2026-03-02T14:35:38.782" v="24" actId="14100"/>
        <pc:sldMkLst>
          <pc:docMk/>
          <pc:sldMk cId="0" sldId="260"/>
        </pc:sldMkLst>
        <pc:spChg chg="mod">
          <ac:chgData name="Pornimaa EG" userId="378069c3d4fc1021" providerId="LiveId" clId="{D413DC48-2A5A-4431-9791-71EA53EB4608}" dt="2026-03-02T14:35:38.782" v="24" actId="14100"/>
          <ac:spMkLst>
            <pc:docMk/>
            <pc:sldMk cId="0" sldId="260"/>
            <ac:spMk id="9" creationId="{00000000-0000-0000-0000-000000000000}"/>
          </ac:spMkLst>
        </pc:spChg>
        <pc:picChg chg="mod">
          <ac:chgData name="Pornimaa EG" userId="378069c3d4fc1021" providerId="LiveId" clId="{D413DC48-2A5A-4431-9791-71EA53EB4608}" dt="2026-03-02T14:35:35.066" v="23" actId="14100"/>
          <ac:picMkLst>
            <pc:docMk/>
            <pc:sldMk cId="0" sldId="260"/>
            <ac:picMk id="11" creationId="{00000000-0000-0000-0000-000000000000}"/>
          </ac:picMkLst>
        </pc:picChg>
      </pc:sldChg>
      <pc:sldChg chg="modSp mod">
        <pc:chgData name="Pornimaa EG" userId="378069c3d4fc1021" providerId="LiveId" clId="{D413DC48-2A5A-4431-9791-71EA53EB4608}" dt="2026-03-02T14:35:23.251" v="22" actId="14100"/>
        <pc:sldMkLst>
          <pc:docMk/>
          <pc:sldMk cId="0" sldId="261"/>
        </pc:sldMkLst>
        <pc:spChg chg="mod">
          <ac:chgData name="Pornimaa EG" userId="378069c3d4fc1021" providerId="LiveId" clId="{D413DC48-2A5A-4431-9791-71EA53EB4608}" dt="2026-03-02T14:35:23.251" v="22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Pornimaa EG" userId="378069c3d4fc1021" providerId="LiveId" clId="{D413DC48-2A5A-4431-9791-71EA53EB4608}" dt="2026-03-02T14:35:11.621" v="19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Pornimaa EG" userId="378069c3d4fc1021" providerId="LiveId" clId="{D413DC48-2A5A-4431-9791-71EA53EB4608}" dt="2026-03-02T14:35:19.958" v="21" actId="14100"/>
          <ac:spMkLst>
            <pc:docMk/>
            <pc:sldMk cId="0" sldId="261"/>
            <ac:spMk id="10" creationId="{00000000-0000-0000-0000-000000000000}"/>
          </ac:spMkLst>
        </pc:spChg>
        <pc:picChg chg="mod">
          <ac:chgData name="Pornimaa EG" userId="378069c3d4fc1021" providerId="LiveId" clId="{D413DC48-2A5A-4431-9791-71EA53EB4608}" dt="2026-03-02T14:35:07.691" v="18" actId="14100"/>
          <ac:picMkLst>
            <pc:docMk/>
            <pc:sldMk cId="0" sldId="261"/>
            <ac:picMk id="11" creationId="{00000000-0000-0000-0000-000000000000}"/>
          </ac:picMkLst>
        </pc:picChg>
        <pc:picChg chg="mod">
          <ac:chgData name="Pornimaa EG" userId="378069c3d4fc1021" providerId="LiveId" clId="{D413DC48-2A5A-4431-9791-71EA53EB4608}" dt="2026-03-02T14:35:17.500" v="20" actId="14100"/>
          <ac:picMkLst>
            <pc:docMk/>
            <pc:sldMk cId="0" sldId="261"/>
            <ac:picMk id="12" creationId="{00000000-0000-0000-0000-000000000000}"/>
          </ac:picMkLst>
        </pc:picChg>
      </pc:sldChg>
      <pc:sldChg chg="modSp mod">
        <pc:chgData name="Pornimaa EG" userId="378069c3d4fc1021" providerId="LiveId" clId="{D413DC48-2A5A-4431-9791-71EA53EB4608}" dt="2026-03-02T14:34:15.328" v="10" actId="14100"/>
        <pc:sldMkLst>
          <pc:docMk/>
          <pc:sldMk cId="0" sldId="262"/>
        </pc:sldMkLst>
        <pc:picChg chg="mod">
          <ac:chgData name="Pornimaa EG" userId="378069c3d4fc1021" providerId="LiveId" clId="{D413DC48-2A5A-4431-9791-71EA53EB4608}" dt="2026-03-02T14:34:05.271" v="7" actId="1076"/>
          <ac:picMkLst>
            <pc:docMk/>
            <pc:sldMk cId="0" sldId="262"/>
            <ac:picMk id="11" creationId="{00000000-0000-0000-0000-000000000000}"/>
          </ac:picMkLst>
        </pc:picChg>
        <pc:picChg chg="mod">
          <ac:chgData name="Pornimaa EG" userId="378069c3d4fc1021" providerId="LiveId" clId="{D413DC48-2A5A-4431-9791-71EA53EB4608}" dt="2026-03-02T14:34:15.328" v="10" actId="14100"/>
          <ac:picMkLst>
            <pc:docMk/>
            <pc:sldMk cId="0" sldId="262"/>
            <ac:picMk id="12" creationId="{00000000-0000-0000-0000-000000000000}"/>
          </ac:picMkLst>
        </pc:picChg>
      </pc:sldChg>
      <pc:sldChg chg="modSp mod">
        <pc:chgData name="Pornimaa EG" userId="378069c3d4fc1021" providerId="LiveId" clId="{D413DC48-2A5A-4431-9791-71EA53EB4608}" dt="2026-03-02T14:33:54.946" v="5" actId="1076"/>
        <pc:sldMkLst>
          <pc:docMk/>
          <pc:sldMk cId="0" sldId="263"/>
        </pc:sldMkLst>
        <pc:picChg chg="mod">
          <ac:chgData name="Pornimaa EG" userId="378069c3d4fc1021" providerId="LiveId" clId="{D413DC48-2A5A-4431-9791-71EA53EB4608}" dt="2026-03-02T14:33:51.857" v="4" actId="14100"/>
          <ac:picMkLst>
            <pc:docMk/>
            <pc:sldMk cId="0" sldId="263"/>
            <ac:picMk id="11" creationId="{00000000-0000-0000-0000-000000000000}"/>
          </ac:picMkLst>
        </pc:picChg>
        <pc:picChg chg="mod">
          <ac:chgData name="Pornimaa EG" userId="378069c3d4fc1021" providerId="LiveId" clId="{D413DC48-2A5A-4431-9791-71EA53EB4608}" dt="2026-03-02T14:33:54.946" v="5" actId="1076"/>
          <ac:picMkLst>
            <pc:docMk/>
            <pc:sldMk cId="0" sldId="263"/>
            <ac:picMk id="12" creationId="{00000000-0000-0000-0000-000000000000}"/>
          </ac:picMkLst>
        </pc:picChg>
      </pc:sldChg>
      <pc:sldChg chg="modSp mod">
        <pc:chgData name="Pornimaa EG" userId="378069c3d4fc1021" providerId="LiveId" clId="{D413DC48-2A5A-4431-9791-71EA53EB4608}" dt="2026-03-02T14:36:22.784" v="31" actId="1076"/>
        <pc:sldMkLst>
          <pc:docMk/>
          <pc:sldMk cId="0" sldId="264"/>
        </pc:sldMkLst>
        <pc:picChg chg="mod">
          <ac:chgData name="Pornimaa EG" userId="378069c3d4fc1021" providerId="LiveId" clId="{D413DC48-2A5A-4431-9791-71EA53EB4608}" dt="2026-03-02T14:36:22.784" v="31" actId="1076"/>
          <ac:picMkLst>
            <pc:docMk/>
            <pc:sldMk cId="0" sldId="264"/>
            <ac:picMk id="11" creationId="{00000000-0000-0000-0000-000000000000}"/>
          </ac:picMkLst>
        </pc:picChg>
        <pc:picChg chg="mod">
          <ac:chgData name="Pornimaa EG" userId="378069c3d4fc1021" providerId="LiveId" clId="{D413DC48-2A5A-4431-9791-71EA53EB4608}" dt="2026-03-02T14:36:19.756" v="30" actId="1076"/>
          <ac:picMkLst>
            <pc:docMk/>
            <pc:sldMk cId="0" sldId="264"/>
            <ac:picMk id="12" creationId="{00000000-0000-0000-0000-000000000000}"/>
          </ac:picMkLst>
        </pc:picChg>
      </pc:sldChg>
      <pc:sldChg chg="modSp mod">
        <pc:chgData name="Pornimaa EG" userId="378069c3d4fc1021" providerId="LiveId" clId="{D413DC48-2A5A-4431-9791-71EA53EB4608}" dt="2026-03-03T14:11:07.690" v="32" actId="14100"/>
        <pc:sldMkLst>
          <pc:docMk/>
          <pc:sldMk cId="0" sldId="265"/>
        </pc:sldMkLst>
        <pc:picChg chg="mod">
          <ac:chgData name="Pornimaa EG" userId="378069c3d4fc1021" providerId="LiveId" clId="{D413DC48-2A5A-4431-9791-71EA53EB4608}" dt="2026-03-03T14:11:07.690" v="32" actId="14100"/>
          <ac:picMkLst>
            <pc:docMk/>
            <pc:sldMk cId="0" sldId="265"/>
            <ac:picMk id="11" creationId="{00000000-0000-0000-0000-000000000000}"/>
          </ac:picMkLst>
        </pc:picChg>
      </pc:sldChg>
      <pc:sldChg chg="modSp mod">
        <pc:chgData name="Pornimaa EG" userId="378069c3d4fc1021" providerId="LiveId" clId="{D413DC48-2A5A-4431-9791-71EA53EB4608}" dt="2026-03-03T14:11:14.881" v="33" actId="14100"/>
        <pc:sldMkLst>
          <pc:docMk/>
          <pc:sldMk cId="0" sldId="266"/>
        </pc:sldMkLst>
        <pc:picChg chg="mod">
          <ac:chgData name="Pornimaa EG" userId="378069c3d4fc1021" providerId="LiveId" clId="{D413DC48-2A5A-4431-9791-71EA53EB4608}" dt="2026-03-03T14:11:14.881" v="33" actId="14100"/>
          <ac:picMkLst>
            <pc:docMk/>
            <pc:sldMk cId="0" sldId="266"/>
            <ac:picMk id="11" creationId="{00000000-0000-0000-0000-000000000000}"/>
          </ac:picMkLst>
        </pc:picChg>
      </pc:sldChg>
      <pc:sldChg chg="modSp mod">
        <pc:chgData name="Pornimaa EG" userId="378069c3d4fc1021" providerId="LiveId" clId="{D413DC48-2A5A-4431-9791-71EA53EB4608}" dt="2026-03-03T14:11:22.344" v="34" actId="14100"/>
        <pc:sldMkLst>
          <pc:docMk/>
          <pc:sldMk cId="0" sldId="268"/>
        </pc:sldMkLst>
        <pc:picChg chg="mod">
          <ac:chgData name="Pornimaa EG" userId="378069c3d4fc1021" providerId="LiveId" clId="{D413DC48-2A5A-4431-9791-71EA53EB4608}" dt="2026-03-03T14:11:22.344" v="34" actId="14100"/>
          <ac:picMkLst>
            <pc:docMk/>
            <pc:sldMk cId="0" sldId="268"/>
            <ac:picMk id="11" creationId="{00000000-0000-0000-0000-000000000000}"/>
          </ac:picMkLst>
        </pc:picChg>
      </pc:sldChg>
      <pc:sldChg chg="modSp mod">
        <pc:chgData name="Pornimaa EG" userId="378069c3d4fc1021" providerId="LiveId" clId="{D413DC48-2A5A-4431-9791-71EA53EB4608}" dt="2026-03-03T14:11:39.894" v="36" actId="14100"/>
        <pc:sldMkLst>
          <pc:docMk/>
          <pc:sldMk cId="0" sldId="269"/>
        </pc:sldMkLst>
        <pc:picChg chg="mod">
          <ac:chgData name="Pornimaa EG" userId="378069c3d4fc1021" providerId="LiveId" clId="{D413DC48-2A5A-4431-9791-71EA53EB4608}" dt="2026-03-03T14:11:39.894" v="36" actId="14100"/>
          <ac:picMkLst>
            <pc:docMk/>
            <pc:sldMk cId="0" sldId="269"/>
            <ac:picMk id="11" creationId="{00000000-0000-0000-0000-000000000000}"/>
          </ac:picMkLst>
        </pc:picChg>
      </pc:sldChg>
      <pc:sldChg chg="modSp mod">
        <pc:chgData name="Pornimaa EG" userId="378069c3d4fc1021" providerId="LiveId" clId="{D413DC48-2A5A-4431-9791-71EA53EB4608}" dt="2026-03-03T14:11:50.068" v="37" actId="14100"/>
        <pc:sldMkLst>
          <pc:docMk/>
          <pc:sldMk cId="0" sldId="270"/>
        </pc:sldMkLst>
        <pc:picChg chg="mod">
          <ac:chgData name="Pornimaa EG" userId="378069c3d4fc1021" providerId="LiveId" clId="{D413DC48-2A5A-4431-9791-71EA53EB4608}" dt="2026-03-03T14:11:50.068" v="37" actId="14100"/>
          <ac:picMkLst>
            <pc:docMk/>
            <pc:sldMk cId="0" sldId="270"/>
            <ac:picMk id="11" creationId="{00000000-0000-0000-0000-000000000000}"/>
          </ac:picMkLst>
        </pc:picChg>
      </pc:sldChg>
      <pc:sldChg chg="modSp mod">
        <pc:chgData name="Pornimaa EG" userId="378069c3d4fc1021" providerId="LiveId" clId="{D413DC48-2A5A-4431-9791-71EA53EB4608}" dt="2026-03-03T14:11:56.151" v="38" actId="14100"/>
        <pc:sldMkLst>
          <pc:docMk/>
          <pc:sldMk cId="0" sldId="271"/>
        </pc:sldMkLst>
        <pc:picChg chg="mod">
          <ac:chgData name="Pornimaa EG" userId="378069c3d4fc1021" providerId="LiveId" clId="{D413DC48-2A5A-4431-9791-71EA53EB4608}" dt="2026-03-03T14:11:56.151" v="38" actId="14100"/>
          <ac:picMkLst>
            <pc:docMk/>
            <pc:sldMk cId="0" sldId="271"/>
            <ac:picMk id="11" creationId="{00000000-0000-0000-0000-000000000000}"/>
          </ac:picMkLst>
        </pc:picChg>
      </pc:sldChg>
      <pc:sldChg chg="modSp mod">
        <pc:chgData name="Pornimaa EG" userId="378069c3d4fc1021" providerId="LiveId" clId="{D413DC48-2A5A-4431-9791-71EA53EB4608}" dt="2026-03-03T14:13:29.867" v="53" actId="14100"/>
        <pc:sldMkLst>
          <pc:docMk/>
          <pc:sldMk cId="0" sldId="272"/>
        </pc:sldMkLst>
        <pc:spChg chg="mod">
          <ac:chgData name="Pornimaa EG" userId="378069c3d4fc1021" providerId="LiveId" clId="{D413DC48-2A5A-4431-9791-71EA53EB4608}" dt="2026-03-03T14:12:59.736" v="48" actId="255"/>
          <ac:spMkLst>
            <pc:docMk/>
            <pc:sldMk cId="0" sldId="272"/>
            <ac:spMk id="8" creationId="{00000000-0000-0000-0000-000000000000}"/>
          </ac:spMkLst>
        </pc:spChg>
        <pc:spChg chg="mod">
          <ac:chgData name="Pornimaa EG" userId="378069c3d4fc1021" providerId="LiveId" clId="{D413DC48-2A5A-4431-9791-71EA53EB4608}" dt="2026-03-03T14:13:29.867" v="53" actId="14100"/>
          <ac:spMkLst>
            <pc:docMk/>
            <pc:sldMk cId="0" sldId="272"/>
            <ac:spMk id="9" creationId="{00000000-0000-0000-0000-000000000000}"/>
          </ac:spMkLst>
        </pc:spChg>
        <pc:spChg chg="mod">
          <ac:chgData name="Pornimaa EG" userId="378069c3d4fc1021" providerId="LiveId" clId="{D413DC48-2A5A-4431-9791-71EA53EB4608}" dt="2026-03-03T14:12:49.173" v="46" actId="14100"/>
          <ac:spMkLst>
            <pc:docMk/>
            <pc:sldMk cId="0" sldId="272"/>
            <ac:spMk id="10" creationId="{00000000-0000-0000-0000-000000000000}"/>
          </ac:spMkLst>
        </pc:spChg>
        <pc:picChg chg="mod">
          <ac:chgData name="Pornimaa EG" userId="378069c3d4fc1021" providerId="LiveId" clId="{D413DC48-2A5A-4431-9791-71EA53EB4608}" dt="2026-03-03T14:12:40.638" v="44" actId="14100"/>
          <ac:picMkLst>
            <pc:docMk/>
            <pc:sldMk cId="0" sldId="272"/>
            <ac:picMk id="11" creationId="{00000000-0000-0000-0000-000000000000}"/>
          </ac:picMkLst>
        </pc:picChg>
        <pc:picChg chg="mod">
          <ac:chgData name="Pornimaa EG" userId="378069c3d4fc1021" providerId="LiveId" clId="{D413DC48-2A5A-4431-9791-71EA53EB4608}" dt="2026-03-03T14:13:21.442" v="52" actId="14100"/>
          <ac:picMkLst>
            <pc:docMk/>
            <pc:sldMk cId="0" sldId="272"/>
            <ac:picMk id="12" creationId="{00000000-0000-0000-0000-000000000000}"/>
          </ac:picMkLst>
        </pc:picChg>
      </pc:sldChg>
      <pc:sldChg chg="modSp mod">
        <pc:chgData name="Pornimaa EG" userId="378069c3d4fc1021" providerId="LiveId" clId="{D413DC48-2A5A-4431-9791-71EA53EB4608}" dt="2026-03-03T14:13:41.001" v="55" actId="14100"/>
        <pc:sldMkLst>
          <pc:docMk/>
          <pc:sldMk cId="0" sldId="273"/>
        </pc:sldMkLst>
        <pc:spChg chg="mod">
          <ac:chgData name="Pornimaa EG" userId="378069c3d4fc1021" providerId="LiveId" clId="{D413DC48-2A5A-4431-9791-71EA53EB4608}" dt="2026-03-03T14:13:41.001" v="55" actId="14100"/>
          <ac:spMkLst>
            <pc:docMk/>
            <pc:sldMk cId="0" sldId="273"/>
            <ac:spMk id="9" creationId="{00000000-0000-0000-0000-000000000000}"/>
          </ac:spMkLst>
        </pc:spChg>
        <pc:picChg chg="mod">
          <ac:chgData name="Pornimaa EG" userId="378069c3d4fc1021" providerId="LiveId" clId="{D413DC48-2A5A-4431-9791-71EA53EB4608}" dt="2026-03-03T14:13:37.159" v="54" actId="14100"/>
          <ac:picMkLst>
            <pc:docMk/>
            <pc:sldMk cId="0" sldId="273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117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69592" y="0"/>
            <a:ext cx="5119360" cy="68580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03924" y="0"/>
            <a:ext cx="82296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Capstone Walkthrough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41148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Pornimaa Eswari Ganesan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 •  MySQL Database Project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7904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67904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79040" y="2743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767904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7904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679040" y="4892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Areas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64008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486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28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multi-domain MySQL database simulating a real-world financial services bank with customers, employees, branches, expenditures, loans, and transaction records.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719072"/>
            <a:ext cx="3566160" cy="157276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719072"/>
            <a:ext cx="54864" cy="15727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105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💳  Customer Transactions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176272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transactions with amounts, merchant categories, payment methods, and fraud flags. Supports segmentation and risk analysis.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97096" y="1719072"/>
            <a:ext cx="3566160" cy="157276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97096" y="1719072"/>
            <a:ext cx="54864" cy="15727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4256" y="18105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🏦  Branch &amp; Geography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34256" y="2176272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branches organized by state and region with hub cities. Enables regional distribution and proximity analysis.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82712" y="1719072"/>
            <a:ext cx="3566160" cy="157276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82712" y="1719072"/>
            <a:ext cx="54864" cy="1572768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18105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Expenditures &amp; Budget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19872" y="2176272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spending across fiscal years with vendors, cost centers, and budget categories for financial performance tracking.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493008"/>
            <a:ext cx="3566160" cy="157276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493008"/>
            <a:ext cx="54864" cy="15727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844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Employees &amp; HR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950208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 with tenure, branch assignment, and department data supporting workforce analytics and reporting.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97096" y="3493008"/>
            <a:ext cx="3566160" cy="157276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97096" y="3493008"/>
            <a:ext cx="54864" cy="15727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34256" y="35844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Loan Applications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34256" y="3950208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pipeline with applicant credit history (Good/None), approval status, and amounts for credit outcome comparison.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982712" y="3493008"/>
            <a:ext cx="3566160" cy="157276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82712" y="3493008"/>
            <a:ext cx="54864" cy="15727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35844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Fraud Detection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19872" y="3950208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fraud flags and merchant location data enabling fraud rate analysis and risk-level classification.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64008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Information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4864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Banking — MySQL Capstone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5486400" cy="5303520"/>
          </a:xfrm>
          <a:prstGeom prst="rect">
            <a:avLst/>
          </a:prstGeom>
          <a:solidFill>
            <a:srgbClr val="0A1628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05840"/>
            <a:ext cx="54864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058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Domain Context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572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5727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&amp; Financial Services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011680"/>
            <a:ext cx="516636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1031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Multi-regional bank with branch network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16636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334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6334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card holders across US regions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072384"/>
            <a:ext cx="516636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638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1638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→ States → Hub Cities → Branches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602736"/>
            <a:ext cx="516636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6941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36941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tracked per branch with tenure history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133088"/>
            <a:ext cx="516636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245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42245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expenditure management (FY2024–2025)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663440"/>
            <a:ext cx="516636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754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20240" y="4754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 with credit history classification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5193792"/>
            <a:ext cx="516636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2852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20240" y="52852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fraud detection &amp; merchant risk profiling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36792" y="1005840"/>
            <a:ext cx="5394960" cy="5303520"/>
          </a:xfrm>
          <a:prstGeom prst="rect">
            <a:avLst/>
          </a:prstGeom>
          <a:solidFill>
            <a:srgbClr val="0A1628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36792" y="1005840"/>
            <a:ext cx="539496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1005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SQL Techniques Used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92240" y="1627632"/>
            <a:ext cx="256032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16276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39712" y="15727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+ JOINs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70848" y="15727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queries linking customers, transactions, branches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73952" y="2011680"/>
            <a:ext cx="512064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92240" y="2157984"/>
            <a:ext cx="256032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21579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39712" y="21031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HAVING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070848" y="21031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with filters — vendor spend, dept totals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73952" y="2542032"/>
            <a:ext cx="512064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92240" y="2688336"/>
            <a:ext cx="256032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268833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39712" y="263347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+ LIMIT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070848" y="26334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rankings — top 10 expenditures, customers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73952" y="3072384"/>
            <a:ext cx="512064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3218688"/>
            <a:ext cx="256032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3218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39712" y="316382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Statements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070848" y="316382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classification — size bands, risk levels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73952" y="3602736"/>
            <a:ext cx="512064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3749040"/>
            <a:ext cx="256032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0" y="37490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839712" y="36941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070848" y="369417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subqueries for above-average comparisons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473952" y="4133088"/>
            <a:ext cx="512064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92240" y="4279392"/>
            <a:ext cx="256032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92240" y="42793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839712" y="42245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070848" y="422452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and running calculations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473952" y="4663440"/>
            <a:ext cx="512064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92240" y="4809744"/>
            <a:ext cx="256032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92240" y="480974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839712" y="4754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9070848" y="475488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MAX across financial domains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473952" y="5193792"/>
            <a:ext cx="5120640" cy="91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92240" y="5340096"/>
            <a:ext cx="256032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92240" y="53400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839712" y="52852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Logic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9070848" y="52852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Flag-based fraud analysis by merchant and channel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64008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Design &amp; Data Modelling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486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28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96926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model showing primary/foreign key relationships across all core tables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463040"/>
            <a:ext cx="2103120" cy="2926080"/>
          </a:xfrm>
          <a:prstGeom prst="rect">
            <a:avLst/>
          </a:prstGeom>
          <a:solidFill>
            <a:srgbClr val="0D2240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463040"/>
            <a:ext cx="21031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1847088"/>
            <a:ext cx="21031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Customer_ID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21214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Customer_Name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3774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63347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895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14553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4015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Phone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785616"/>
            <a:ext cx="2103120" cy="91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Transactions (1:M)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" y="4087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LoanApplications (1:M)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1463040"/>
            <a:ext cx="2103120" cy="2926080"/>
          </a:xfrm>
          <a:prstGeom prst="rect">
            <a:avLst/>
          </a:prstGeom>
          <a:solidFill>
            <a:srgbClr val="0D224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1463040"/>
            <a:ext cx="21031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07208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1847088"/>
            <a:ext cx="21031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16352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Transaction_ID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16352" y="21214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Customer_ID (FK)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816352" y="23774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Amount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16352" y="263347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Transaction_Date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816352" y="28895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Merchant_Category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816352" y="314553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Payment_Method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16352" y="34015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Is_Fraud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74920" y="1463040"/>
            <a:ext cx="2103120" cy="2926080"/>
          </a:xfrm>
          <a:prstGeom prst="rect">
            <a:avLst/>
          </a:prstGeom>
          <a:solidFill>
            <a:srgbClr val="0D2240"/>
          </a:solidFill>
          <a:ln w="19050">
            <a:solidFill>
              <a:srgbClr val="F4C5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74920" y="1463040"/>
            <a:ext cx="2103120" cy="384048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38928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EXPENDITURES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74920" y="1847088"/>
            <a:ext cx="21031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8072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Expense_ID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48072" y="21214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Vendor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48072" y="23774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Amount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48072" y="263347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Fiscal_Year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148072" y="28895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Department_ID (FK)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48072" y="314553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Branch_ID (FK)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48072" y="34015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Budget_Category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06640" y="1463040"/>
            <a:ext cx="2103120" cy="2926080"/>
          </a:xfrm>
          <a:prstGeom prst="rect">
            <a:avLst/>
          </a:prstGeom>
          <a:solidFill>
            <a:srgbClr val="0D2240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06640" y="1463040"/>
            <a:ext cx="2103120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70648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06640" y="1847088"/>
            <a:ext cx="21031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79792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Branch_ID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79792" y="21214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Branch_Name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479792" y="23774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79792" y="263347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Region_ID (FK)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479792" y="28895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Hub_City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406640" y="3785616"/>
            <a:ext cx="2103120" cy="914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79792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Employees (1:M)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79792" y="4087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Expenditures (1:M)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738360" y="1463040"/>
            <a:ext cx="2103120" cy="2926080"/>
          </a:xfrm>
          <a:prstGeom prst="rect">
            <a:avLst/>
          </a:prstGeom>
          <a:solidFill>
            <a:srgbClr val="0D2240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38360" y="1463040"/>
            <a:ext cx="2103120" cy="3840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02368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738360" y="1847088"/>
            <a:ext cx="21031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11512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Employee_ID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811512" y="21214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Employee_Name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811512" y="23774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Branch_ID (FK)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811512" y="263347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Department_ID (FK)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9811512" y="28895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Hire_Date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9811512" y="314553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Position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188720" y="4572000"/>
            <a:ext cx="3291840" cy="1280160"/>
          </a:xfrm>
          <a:prstGeom prst="rect">
            <a:avLst/>
          </a:prstGeom>
          <a:solidFill>
            <a:srgbClr val="0D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88720" y="4572000"/>
            <a:ext cx="3291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252728" y="45720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261872" y="49011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Region_ID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261872" y="5148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Region_Name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261872" y="5376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Hub_City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261872" y="5605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State_Count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257800" y="4572000"/>
            <a:ext cx="3291840" cy="1280160"/>
          </a:xfrm>
          <a:prstGeom prst="rect">
            <a:avLst/>
          </a:prstGeom>
          <a:solidFill>
            <a:srgbClr val="0D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257800" y="4572000"/>
            <a:ext cx="3291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21808" y="45720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330952" y="49011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Department_ID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330952" y="5148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Dept_Name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330952" y="5376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Cost_Center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330952" y="5605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Budget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8897112" y="4608576"/>
            <a:ext cx="3179869" cy="1499616"/>
          </a:xfrm>
          <a:prstGeom prst="rect">
            <a:avLst/>
          </a:prstGeom>
          <a:solidFill>
            <a:srgbClr val="0D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897112" y="4572000"/>
            <a:ext cx="3291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390888" y="45720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LOAN_APPLICATIONS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9400032" y="49011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App_ID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9400032" y="5148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Customer_ID (FK)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400032" y="5376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Loan_Amount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9400032" y="5605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Credit_History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400032" y="5833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Approved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2517188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2286000"/>
          </a:xfrm>
          <a:prstGeom prst="rect">
            <a:avLst/>
          </a:prstGeom>
        </p:spPr>
      </p:pic>
      <p:pic>
        <p:nvPicPr>
          <p:cNvPr id="12" name="Image 1" descr="/home/claude/unpacked_orig/ppt/media/image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Structure / Column Information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62144" y="3036498"/>
            <a:ext cx="5409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233172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9954" y="3400878"/>
            <a:ext cx="5409814" cy="3182802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1"/>
            <a:ext cx="5971032" cy="2257878"/>
          </a:xfrm>
          <a:prstGeom prst="rect">
            <a:avLst/>
          </a:prstGeom>
        </p:spPr>
      </p:pic>
      <p:pic>
        <p:nvPicPr>
          <p:cNvPr id="12" name="Image 1" descr="/home/claude/unpacked_orig/ppt/media/image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49954" y="3429000"/>
            <a:ext cx="5373237" cy="306323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budget categories are there?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0488" y="1097280"/>
            <a:ext cx="5577840" cy="5349240"/>
          </a:xfrm>
          <a:prstGeom prst="rect">
            <a:avLst/>
          </a:prstGeom>
        </p:spPr>
      </p:pic>
      <p:pic>
        <p:nvPicPr>
          <p:cNvPr id="12" name="Image 1" descr="/home/claude/unpacked_orig/ppt/media/image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1751" y="1115568"/>
            <a:ext cx="5654041" cy="546811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cost centers are there?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2350698"/>
          </a:xfrm>
          <a:prstGeom prst="rect">
            <a:avLst/>
          </a:prstGeom>
        </p:spPr>
      </p:pic>
      <p:pic>
        <p:nvPicPr>
          <p:cNvPr id="12" name="Image 1" descr="/home/claude/unpacked_orig/ppt/media/image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226529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 all customer transactions over $1,000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45352" y="1097280"/>
            <a:ext cx="5577840" cy="5349240"/>
          </a:xfrm>
          <a:prstGeom prst="rect">
            <a:avLst/>
          </a:prstGeom>
        </p:spPr>
      </p:pic>
      <p:pic>
        <p:nvPicPr>
          <p:cNvPr id="12" name="Image 1" descr="/home/claude/unpacked_orig/ppt/media/image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09728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the top 10 highest expenditures by amount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2150706"/>
          </a:xfrm>
          <a:prstGeom prst="rect">
            <a:avLst/>
          </a:prstGeom>
        </p:spPr>
      </p:pic>
      <p:pic>
        <p:nvPicPr>
          <p:cNvPr id="12" name="Image 1" descr="/home/claude/unpacked_orig/ppt/media/image1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customer transaction amount and count by merchant category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2188029"/>
          </a:xfrm>
          <a:prstGeom prst="rect">
            <a:avLst/>
          </a:prstGeom>
        </p:spPr>
      </p:pic>
      <p:pic>
        <p:nvPicPr>
          <p:cNvPr id="12" name="Image 1" descr="/home/claude/unpacked_orig/ppt/media/image1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expenditure amount per branch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1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5349240"/>
          </a:xfrm>
          <a:prstGeom prst="rect">
            <a:avLst/>
          </a:prstGeom>
        </p:spPr>
      </p:pic>
      <p:pic>
        <p:nvPicPr>
          <p:cNvPr id="12" name="Image 1" descr="/home/claude/unpacked_orig/ppt/media/image1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Expenditure vendors with &gt;5 expenses and &gt;$25,000 total spend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3550298"/>
          </a:xfrm>
          <a:prstGeom prst="rect">
            <a:avLst/>
          </a:prstGeom>
        </p:spPr>
      </p:pic>
      <p:pic>
        <p:nvPicPr>
          <p:cNvPr id="12" name="Image 1" descr="/home/claude/unpacked_orig/ppt/media/image1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Departments with 2025 total spending exceeding $100,000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1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2533261"/>
          </a:xfrm>
          <a:prstGeom prst="rect">
            <a:avLst/>
          </a:prstGeom>
        </p:spPr>
      </p:pic>
      <p:pic>
        <p:nvPicPr>
          <p:cNvPr id="12" name="Image 1" descr="/home/claude/unpacked_orig/ppt/media/image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states per region?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2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2486608"/>
          </a:xfrm>
          <a:prstGeom prst="rect">
            <a:avLst/>
          </a:prstGeom>
        </p:spPr>
      </p:pic>
      <p:pic>
        <p:nvPicPr>
          <p:cNvPr id="12" name="Image 1" descr="/home/claude/unpacked_orig/ppt/media/image2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branches per region?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2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2505269"/>
          </a:xfrm>
          <a:prstGeom prst="rect">
            <a:avLst/>
          </a:prstGeom>
        </p:spPr>
      </p:pic>
      <p:pic>
        <p:nvPicPr>
          <p:cNvPr id="12" name="Image 1" descr="/home/claude/unpacked_orig/ppt/media/image2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Branches in the same state as their region's hub city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89319" y="4331551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3234271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68421" y="3796436"/>
            <a:ext cx="2791346" cy="2787243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2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39" y="1143000"/>
            <a:ext cx="8702663" cy="3083370"/>
          </a:xfrm>
          <a:prstGeom prst="rect">
            <a:avLst/>
          </a:prstGeom>
        </p:spPr>
      </p:pic>
      <p:pic>
        <p:nvPicPr>
          <p:cNvPr id="12" name="Image 1" descr="/home/claude/unpacked_orig/ppt/media/image2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27167" y="3545633"/>
            <a:ext cx="4396025" cy="294660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expenditure per department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2635338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2421294"/>
          </a:xfrm>
          <a:prstGeom prst="rect">
            <a:avLst/>
          </a:prstGeom>
        </p:spPr>
      </p:pic>
      <p:pic>
        <p:nvPicPr>
          <p:cNvPr id="12" name="Image 1" descr="/home/claude/unpacked_orig/ppt/media/image2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employees with longest employment and branch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2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5349240"/>
          </a:xfrm>
          <a:prstGeom prst="rect">
            <a:avLst/>
          </a:prstGeom>
        </p:spPr>
      </p:pic>
      <p:pic>
        <p:nvPicPr>
          <p:cNvPr id="12" name="Image 1" descr="/home/claude/unpacked_orig/ppt/media/image3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 per region — highest to lowest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3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5349240"/>
          </a:xfrm>
          <a:prstGeom prst="rect">
            <a:avLst/>
          </a:prstGeom>
        </p:spPr>
      </p:pic>
      <p:pic>
        <p:nvPicPr>
          <p:cNvPr id="12" name="Image 1" descr="/home/claude/unpacked_orig/ppt/media/image3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Loan applications: good credit vs. no credit history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3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5349240"/>
          </a:xfrm>
          <a:prstGeom prst="rect">
            <a:avLst/>
          </a:prstGeom>
        </p:spPr>
      </p:pic>
      <p:pic>
        <p:nvPicPr>
          <p:cNvPr id="12" name="Image 1" descr="/home/claude/unpacked_orig/ppt/media/image3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 customer transactions into size bands (CASE)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3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5349240"/>
          </a:xfrm>
          <a:prstGeom prst="rect">
            <a:avLst/>
          </a:prstGeom>
        </p:spPr>
      </p:pic>
      <p:pic>
        <p:nvPicPr>
          <p:cNvPr id="12" name="Image 1" descr="/home/claude/unpacked_orig/ppt/media/image3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customers by credit card transactions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3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5349240"/>
          </a:xfrm>
          <a:prstGeom prst="rect">
            <a:avLst/>
          </a:prstGeom>
        </p:spPr>
      </p:pic>
      <p:pic>
        <p:nvPicPr>
          <p:cNvPr id="12" name="Image 1" descr="/home/claude/unpacked_orig/ppt/media/image3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CASE: Flag transaction risk levels (high to low)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3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5349240"/>
          </a:xfrm>
          <a:prstGeom prst="rect">
            <a:avLst/>
          </a:prstGeom>
        </p:spPr>
      </p:pic>
      <p:pic>
        <p:nvPicPr>
          <p:cNvPr id="12" name="Image 1" descr="/home/claude/unpacked_orig/ppt/media/image4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Merchant locations with &gt;2 fraudulent transactions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4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5349240"/>
          </a:xfrm>
          <a:prstGeom prst="rect">
            <a:avLst/>
          </a:prstGeom>
        </p:spPr>
      </p:pic>
      <p:pic>
        <p:nvPicPr>
          <p:cNvPr id="12" name="Image 1" descr="/home/claude/unpacked_orig/ppt/media/image4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transactions exceeding average — payment method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4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5349240"/>
          </a:xfrm>
          <a:prstGeom prst="rect">
            <a:avLst/>
          </a:prstGeom>
        </p:spPr>
      </p:pic>
      <p:pic>
        <p:nvPicPr>
          <p:cNvPr id="12" name="Image 1" descr="/home/claude/unpacked_orig/ppt/media/image4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1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rate and avg transaction: online vs. in-store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841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66928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097280"/>
            <a:ext cx="5623560" cy="5486400"/>
          </a:xfrm>
          <a:prstGeom prst="rect">
            <a:avLst/>
          </a:prstGeom>
          <a:solidFill>
            <a:srgbClr val="080F1A"/>
          </a:solidFill>
          <a:ln w="12700">
            <a:solidFill>
              <a:srgbClr val="1C3A5E"/>
            </a:solidFill>
            <a:prstDash val="solid"/>
          </a:ln>
        </p:spPr>
      </p:sp>
      <p:pic>
        <p:nvPicPr>
          <p:cNvPr id="11" name="Image 0" descr="/home/claude/unpacked_orig/ppt/media/image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43000"/>
            <a:ext cx="5577840" cy="5349240"/>
          </a:xfrm>
          <a:prstGeom prst="rect">
            <a:avLst/>
          </a:prstGeom>
        </p:spPr>
      </p:pic>
      <p:pic>
        <p:nvPicPr>
          <p:cNvPr id="12" name="Image 1" descr="/home/claude/unpacked_orig/ppt/media/image4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2" y="1143000"/>
            <a:ext cx="5532120" cy="5349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183112" y="6656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"/>
            <a:ext cx="64008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 &amp; Areas for Improvement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486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 of 28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Capstone  •  Pornimaa Eswari Ganesan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96012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analysis across 24 SQL queries, the following insights and opportunities have been identified: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481328"/>
            <a:ext cx="5303520" cy="1417320"/>
          </a:xfrm>
          <a:prstGeom prst="rect">
            <a:avLst/>
          </a:prstGeom>
          <a:solidFill>
            <a:srgbClr val="0D2240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481328"/>
            <a:ext cx="530352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57276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Expenditure Concentration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19202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vendors account for disproportionately high spend (&gt;$25K).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042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Improve: </a:t>
            </a: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vendor spend caps and diversification policies to reduce single-vendor dependency.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481328"/>
            <a:ext cx="5303520" cy="1417320"/>
          </a:xfrm>
          <a:prstGeom prst="rect">
            <a:avLst/>
          </a:prstGeom>
          <a:solidFill>
            <a:srgbClr val="0D2240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481328"/>
            <a:ext cx="53035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57276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Transaction Volume Imbalance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9202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categories show uneven transaction distributions with some categories dominating volume.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23042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Improve: </a:t>
            </a: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category-level reporting dashboards and rebalance merchant partnerships.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081528"/>
            <a:ext cx="5303520" cy="1417320"/>
          </a:xfrm>
          <a:prstGeom prst="rect">
            <a:avLst/>
          </a:prstGeom>
          <a:solidFill>
            <a:srgbClr val="0D2240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81528"/>
            <a:ext cx="5303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7296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 Fraud Detection Gaps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5204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merchant locations are flagged for multiple fraudulent transactions indicating geographic hot spots.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044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Improve: </a:t>
            </a: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merchant-level fraud scoring and flag high-risk locations for enhanced review.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3081528"/>
            <a:ext cx="5303520" cy="1417320"/>
          </a:xfrm>
          <a:prstGeom prst="rect">
            <a:avLst/>
          </a:prstGeom>
          <a:solidFill>
            <a:srgbClr val="0D2240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3081528"/>
            <a:ext cx="5303520" cy="5486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17296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Branch-Level Spending Variance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5204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expenditure per branch varies significantly — some branches spend well above the mean.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39044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Improve: </a:t>
            </a: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branch-level budget targets with quarterly reviews. High-spend branches should require additional approval layers.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681728"/>
            <a:ext cx="5303520" cy="1417320"/>
          </a:xfrm>
          <a:prstGeom prst="rect">
            <a:avLst/>
          </a:prstGeom>
          <a:solidFill>
            <a:srgbClr val="0D2240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681728"/>
            <a:ext cx="530352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77316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Credit History &amp; Loan Approvals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51206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with no credit history face significantly lower approval rates than those with good credit.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55046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Improve: </a:t>
            </a: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alternative credit scoring models using transaction history to serve thin-file customers.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72200" y="4681728"/>
            <a:ext cx="5303520" cy="1417320"/>
          </a:xfrm>
          <a:prstGeom prst="rect">
            <a:avLst/>
          </a:prstGeom>
          <a:solidFill>
            <a:srgbClr val="0D2240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4681728"/>
            <a:ext cx="53035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77316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Employee Tenure &amp; Retention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51206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longest-tenured employees are concentrated in specific branches — potential knowledge silo risk.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0" y="55046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Improve: </a:t>
            </a: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cross-branch mentorship programs and succession planning to distribute institutional knowledge.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1390</Words>
  <Application>Microsoft Office PowerPoint</Application>
  <PresentationFormat>Widescreen</PresentationFormat>
  <Paragraphs>324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Walkthrough MySQL — Pornimaa Eswari Ganesan</dc:title>
  <dc:subject>PptxGenJS Presentation</dc:subject>
  <dc:creator>PptxGenJS</dc:creator>
  <cp:lastModifiedBy>Pornimaa EG</cp:lastModifiedBy>
  <cp:revision>1</cp:revision>
  <dcterms:created xsi:type="dcterms:W3CDTF">2026-02-27T15:53:13Z</dcterms:created>
  <dcterms:modified xsi:type="dcterms:W3CDTF">2026-03-03T14:13:49Z</dcterms:modified>
</cp:coreProperties>
</file>